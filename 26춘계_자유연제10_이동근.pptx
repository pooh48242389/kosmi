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6B"/>
    <a:srgbClr val="40C1B4"/>
    <a:srgbClr val="EEA232"/>
    <a:srgbClr val="F55A23"/>
    <a:srgbClr val="EA793A"/>
    <a:srgbClr val="E99766"/>
    <a:srgbClr val="161262"/>
    <a:srgbClr val="ED9966"/>
    <a:srgbClr val="ECA0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EE9FA-10FF-4BC5-BF68-8F24FC27E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F431EE-C0DB-4E25-A8AC-1F4AED505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5AB964-2E6F-4FD3-8115-D7674889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05835A-C457-45DC-9724-634227AB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49C38-4B18-4DCF-BC95-315EA37A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1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3F108-ED79-4A17-AC8F-1FA5A13A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5BA51-9D45-46F9-81E5-35CB8684E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76C5E-C933-41DF-BD71-4E0E5EB5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6C206-15C6-4034-A039-3B84F07F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1F63C-7B7A-4AB2-817F-CC84C23E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19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CFF0F-1F1A-4E0A-AE9D-13806506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5A345F-6F9D-451F-BD6F-ADC842E4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06ADB-4D25-4200-9AB7-F0130901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5958B-5289-41D0-AE9A-8503F74C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B43FA-C2A8-44E0-9D38-0ED0AB09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02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E7B88-A09A-4BCE-99FB-A166B585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D0C9B-585E-444B-A448-F0829763B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0E8034-E1DD-443E-B174-296E889A3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A610AD-DAA5-4549-9034-04D64A98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AE8524-69A5-4E66-A901-D1D989D9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3B6222-1C5B-4C1C-BE88-0B6CC774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8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C6C55-034B-4D66-BBD8-7ABC7281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464B2-11F8-4E72-B125-F89875049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312799-900A-4BCA-B680-7BBA499E5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3DBF0D-9B6C-43E6-BEC0-A202B2E65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6DE5AB-797B-4697-8844-B443D4E6B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01F376-0D93-45D9-99F7-4E47BF30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D5A498-D633-48D0-99BC-FD17BE89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52D2FD-321C-43FB-8199-7EECBFF2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14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33F46-4572-4A66-950B-657D1C6FA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B8B55B-6B01-47AF-BD61-B071CC86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CFD1BA-4ED8-4554-AEA6-8AE61314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87B215-EE71-41DE-9957-45E1E9BB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10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069B99-BCE2-4376-89B7-5D6273D6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9B49B5-E546-4028-8F06-74B7E284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86134-5EC6-4130-A13F-5235F1C7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5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68AEB-4C6B-4745-8EBE-5A007633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B444D9-BCD7-499D-888F-34F22BD31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3280DD-FCA9-4957-A718-C7F923676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71B244-4880-4C0C-A30F-6588BC49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6FF8AD-B37D-45B6-B2E2-07920A32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FD0F9B-A4AC-4078-8AF2-855B2DDA5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19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63E15-ACE4-4CF1-AE31-8378B8F88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12DAC5-992A-4EF8-BAD7-B171237F0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7C1216-D5F7-4A66-A51C-AFEB49A00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BEB103-3365-4DC1-B052-EB7E3CFC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BBD239-0DA1-414A-A11F-C8B2319C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3D358D-D686-4427-A919-8DB7B5FB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3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7E04C-0F38-40B5-8D8E-599FE99D3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122C30-7646-4D28-B4E8-93180264D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F486E-BFE3-4AD2-9B07-643963D0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38A192-72D1-4165-8737-0308F0E8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89BFAC-040E-4713-B56E-2FE85161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9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6A3DE6-8B69-4E59-A7BB-6CDA13D5C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013FA-651F-4DD8-9BAF-79D253050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8B02AC-B20E-4418-B31B-6DC6D024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58494-1493-473C-B13E-9E73CE7B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EABE7-A851-48A5-94EC-687437FF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25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DFBB43-EB1C-46E7-89B8-6982D680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F06FA3-9A11-4DCB-AABA-680915E01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FE9E9A-FF65-427F-AAEE-6EAA8AA38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66BD9-A29E-4BF3-A2CC-7E6AF48763AC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1BF70-27A5-48AB-9AF8-AEC6C1643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1A3F7-6DDB-4B2E-943A-6DC07D66C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CAFFC-1C9C-40D0-B78F-3FB7BC604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10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AF8F857-1E2D-4A60-9340-9C374301D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C2D1B0E2-B06D-4C91-9732-524247BBB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136" y="5085331"/>
            <a:ext cx="8528807" cy="35912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ko-KR" altLang="en-US" sz="2800" b="1" dirty="0">
                <a:latin typeface="+mn-ea"/>
                <a:cs typeface="Pretendard SemiBold" panose="02000703000000020004" pitchFamily="50" charset="-127"/>
              </a:rPr>
              <a:t>이동근</a:t>
            </a:r>
            <a:endParaRPr lang="ko-KR" altLang="en-US" sz="2800" dirty="0"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9CD92-7470-4222-A651-167396EA89F2}"/>
              </a:ext>
            </a:extLst>
          </p:cNvPr>
          <p:cNvSpPr txBox="1"/>
          <p:nvPr/>
        </p:nvSpPr>
        <p:spPr>
          <a:xfrm>
            <a:off x="506136" y="2086518"/>
            <a:ext cx="866303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Comparison of Treatment Effect Estimation Methods for Federated Target Trial Emulation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5D5A32-D1E3-4285-9FE1-D587AD725841}"/>
              </a:ext>
            </a:extLst>
          </p:cNvPr>
          <p:cNvCxnSpPr>
            <a:cxnSpLocks/>
          </p:cNvCxnSpPr>
          <p:nvPr/>
        </p:nvCxnSpPr>
        <p:spPr>
          <a:xfrm>
            <a:off x="377505" y="855612"/>
            <a:ext cx="8951053" cy="0"/>
          </a:xfrm>
          <a:prstGeom prst="line">
            <a:avLst/>
          </a:prstGeom>
          <a:ln w="12700">
            <a:solidFill>
              <a:srgbClr val="40C1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2362FF-44C3-46B1-B3D1-4A348FE1C400}"/>
              </a:ext>
            </a:extLst>
          </p:cNvPr>
          <p:cNvSpPr txBox="1"/>
          <p:nvPr/>
        </p:nvSpPr>
        <p:spPr>
          <a:xfrm>
            <a:off x="377505" y="399947"/>
            <a:ext cx="8951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pc="-150" dirty="0">
                <a:solidFill>
                  <a:schemeClr val="bg1"/>
                </a:solidFill>
                <a:latin typeface="+mj-lt"/>
              </a:rPr>
              <a:t>자유연제 </a:t>
            </a:r>
            <a:r>
              <a:rPr lang="en-US" altLang="ko-KR" sz="1600" b="1" spc="-150" dirty="0">
                <a:solidFill>
                  <a:schemeClr val="bg1"/>
                </a:solidFill>
                <a:latin typeface="+mj-lt"/>
              </a:rPr>
              <a:t>10: </a:t>
            </a:r>
            <a:r>
              <a:rPr lang="ko-KR" altLang="en-US" sz="1600" b="1" spc="-150" dirty="0">
                <a:solidFill>
                  <a:schemeClr val="bg1"/>
                </a:solidFill>
                <a:latin typeface="+mj-lt"/>
              </a:rPr>
              <a:t>임상 </a:t>
            </a:r>
            <a:r>
              <a:rPr lang="en-US" altLang="ko-KR" sz="1600" b="1" spc="-150" dirty="0">
                <a:solidFill>
                  <a:schemeClr val="bg1"/>
                </a:solidFill>
                <a:latin typeface="+mj-lt"/>
              </a:rPr>
              <a:t>AI: </a:t>
            </a:r>
            <a:r>
              <a:rPr lang="ko-KR" altLang="en-US" sz="1600" b="1" spc="-150" dirty="0">
                <a:solidFill>
                  <a:schemeClr val="bg1"/>
                </a:solidFill>
                <a:latin typeface="+mj-lt"/>
              </a:rPr>
              <a:t>만성질환</a:t>
            </a:r>
            <a:r>
              <a:rPr lang="en-US" altLang="ko-KR" sz="1600" b="1" spc="-15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600" b="1" spc="-150" dirty="0">
                <a:solidFill>
                  <a:schemeClr val="bg1"/>
                </a:solidFill>
                <a:latin typeface="+mj-lt"/>
              </a:rPr>
              <a:t>신경</a:t>
            </a:r>
            <a:r>
              <a:rPr lang="en-US" altLang="ko-KR" sz="1600" b="1" spc="-15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600" b="1" spc="-150" dirty="0">
                <a:solidFill>
                  <a:schemeClr val="bg1"/>
                </a:solidFill>
                <a:latin typeface="+mj-lt"/>
              </a:rPr>
              <a:t>예후 예측</a:t>
            </a:r>
            <a:endParaRPr lang="en-US" altLang="ko-KR" sz="1600" b="1" spc="-1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20C6204C-AFA7-4D5E-AA49-7B32DC5D7D35}"/>
              </a:ext>
            </a:extLst>
          </p:cNvPr>
          <p:cNvSpPr txBox="1">
            <a:spLocks/>
          </p:cNvSpPr>
          <p:nvPr/>
        </p:nvSpPr>
        <p:spPr>
          <a:xfrm>
            <a:off x="506136" y="5588672"/>
            <a:ext cx="8528807" cy="359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1600" dirty="0">
                <a:latin typeface="+mn-ea"/>
                <a:cs typeface="Pretendard SemiBold" panose="02000703000000020004" pitchFamily="50" charset="-127"/>
              </a:rPr>
              <a:t>경북대학교</a:t>
            </a:r>
          </a:p>
        </p:txBody>
      </p:sp>
    </p:spTree>
    <p:extLst>
      <p:ext uri="{BB962C8B-B14F-4D97-AF65-F5344CB8AC3E}">
        <p14:creationId xmlns:p14="http://schemas.microsoft.com/office/powerpoint/2010/main" val="313956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308062-4E9F-4644-8B7F-9858722C6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8E780B-8D37-4EAF-8E9C-8B346FBF84CA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554BF7-4108-422F-A22D-2BC0D3C422E0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Why Do We Need FL-TTE?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3A3259D-9062-6F23-B4FA-4E3115A30977}"/>
              </a:ext>
            </a:extLst>
          </p:cNvPr>
          <p:cNvSpPr/>
          <p:nvPr/>
        </p:nvSpPr>
        <p:spPr>
          <a:xfrm>
            <a:off x="696000" y="1430555"/>
            <a:ext cx="10800000" cy="274906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In treatment effect estimation, single-site data may have limited sample size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Multi-site data can improve generalizability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However, patient-level data cannot be easily shared across institutions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F4D572E6-4098-62CE-A951-487A39A0F4D2}"/>
              </a:ext>
            </a:extLst>
          </p:cNvPr>
          <p:cNvSpPr/>
          <p:nvPr/>
        </p:nvSpPr>
        <p:spPr>
          <a:xfrm>
            <a:off x="696000" y="1430555"/>
            <a:ext cx="10800000" cy="504772"/>
          </a:xfrm>
          <a:custGeom>
            <a:avLst/>
            <a:gdLst>
              <a:gd name="csX0" fmla="*/ 458186 w 10800000"/>
              <a:gd name="csY0" fmla="*/ 0 h 504772"/>
              <a:gd name="csX1" fmla="*/ 10341814 w 10800000"/>
              <a:gd name="csY1" fmla="*/ 0 h 504772"/>
              <a:gd name="csX2" fmla="*/ 10800000 w 10800000"/>
              <a:gd name="csY2" fmla="*/ 458186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458186 h 504772"/>
              <a:gd name="csX6" fmla="*/ 458186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458186" y="0"/>
                </a:moveTo>
                <a:lnTo>
                  <a:pt x="10341814" y="0"/>
                </a:lnTo>
                <a:cubicBezTo>
                  <a:pt x="10594863" y="0"/>
                  <a:pt x="10800000" y="205137"/>
                  <a:pt x="10800000" y="458186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458186"/>
                </a:lnTo>
                <a:cubicBezTo>
                  <a:pt x="0" y="205137"/>
                  <a:pt x="205137" y="0"/>
                  <a:pt x="458186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ln>
                  <a:solidFill>
                    <a:schemeClr val="bg2"/>
                  </a:solidFill>
                </a:ln>
              </a:rPr>
              <a:t>  Issue</a:t>
            </a:r>
            <a:endParaRPr lang="ko-KR" altLang="en-US" sz="2000" dirty="0">
              <a:ln>
                <a:solidFill>
                  <a:schemeClr val="bg2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3FDD0-D2EC-AA5F-562F-E78FA8BF1A0D}"/>
              </a:ext>
            </a:extLst>
          </p:cNvPr>
          <p:cNvSpPr txBox="1"/>
          <p:nvPr/>
        </p:nvSpPr>
        <p:spPr>
          <a:xfrm>
            <a:off x="838200" y="4396154"/>
            <a:ext cx="106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FL-TTE estimates treatment effects across multiple sites while minimizing the exchange of patient-level information</a:t>
            </a:r>
            <a:endParaRPr lang="ko-KR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990DA7-996C-01D2-6C23-80CBAFC0D844}"/>
              </a:ext>
            </a:extLst>
          </p:cNvPr>
          <p:cNvSpPr txBox="1"/>
          <p:nvPr/>
        </p:nvSpPr>
        <p:spPr>
          <a:xfrm>
            <a:off x="2605454" y="5251938"/>
            <a:ext cx="6981092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/>
              <a:t>FL-TTE = Federated Learning + Target Trial Emulation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 err="1"/>
              <a:t>FedProx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vs</a:t>
            </a:r>
            <a:r>
              <a:rPr lang="ko-KR" altLang="en-US" sz="2000" b="1" dirty="0"/>
              <a:t> </a:t>
            </a:r>
            <a:r>
              <a:rPr lang="en-US" altLang="ko-KR" sz="2000" b="1" dirty="0" err="1"/>
              <a:t>FedECA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3032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530D-225F-3CDF-8C58-AE0BA554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74B02FF-DEB0-A0B3-B07F-7C655E460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2106189-6FBD-1285-EBE9-3970310CE29A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FBD786-A00E-0094-57E8-4B9429C8FB47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Randomized Controlled Trial (RCT)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02F30-61BD-7E82-EB78-B54BDBFB2FBE}"/>
              </a:ext>
            </a:extLst>
          </p:cNvPr>
          <p:cNvSpPr txBox="1"/>
          <p:nvPr/>
        </p:nvSpPr>
        <p:spPr>
          <a:xfrm>
            <a:off x="920966" y="5084241"/>
            <a:ext cx="10657800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RCTs are the gold standard for estimating treatment effects.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Treatment effects can be compared under a fair study design.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However, they are costly and time-consuming because of strict criteria.</a:t>
            </a:r>
            <a:endParaRPr lang="ko-KR" alt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EFDC09-BC22-D32A-CF0A-CB79974AC379}"/>
              </a:ext>
            </a:extLst>
          </p:cNvPr>
          <p:cNvSpPr txBox="1"/>
          <p:nvPr/>
        </p:nvSpPr>
        <p:spPr>
          <a:xfrm>
            <a:off x="5287108" y="1265927"/>
            <a:ext cx="161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Patients</a:t>
            </a:r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A632F-83B2-3B88-0716-0FD2A94EC3D2}"/>
              </a:ext>
            </a:extLst>
          </p:cNvPr>
          <p:cNvSpPr txBox="1"/>
          <p:nvPr/>
        </p:nvSpPr>
        <p:spPr>
          <a:xfrm>
            <a:off x="4903177" y="2246311"/>
            <a:ext cx="2385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Randomization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B287A-BD6F-5A02-48B6-2FB19028D3CB}"/>
              </a:ext>
            </a:extLst>
          </p:cNvPr>
          <p:cNvSpPr txBox="1"/>
          <p:nvPr/>
        </p:nvSpPr>
        <p:spPr>
          <a:xfrm>
            <a:off x="3556489" y="3226695"/>
            <a:ext cx="2385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Treatment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F17EB-A4A2-576C-82B7-6B59E80A05A3}"/>
              </a:ext>
            </a:extLst>
          </p:cNvPr>
          <p:cNvSpPr txBox="1"/>
          <p:nvPr/>
        </p:nvSpPr>
        <p:spPr>
          <a:xfrm>
            <a:off x="6249866" y="3226695"/>
            <a:ext cx="2385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Control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8C6AE-9702-E354-AC15-1ED12EB20444}"/>
              </a:ext>
            </a:extLst>
          </p:cNvPr>
          <p:cNvSpPr txBox="1"/>
          <p:nvPr/>
        </p:nvSpPr>
        <p:spPr>
          <a:xfrm>
            <a:off x="4749312" y="4207079"/>
            <a:ext cx="2693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Compared Outcomes</a:t>
            </a:r>
            <a:endParaRPr lang="ko-KR" altLang="en-US" sz="20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888F69F-3552-CC5C-AC25-006722A7F5B3}"/>
              </a:ext>
            </a:extLst>
          </p:cNvPr>
          <p:cNvCxnSpPr>
            <a:cxnSpLocks/>
          </p:cNvCxnSpPr>
          <p:nvPr/>
        </p:nvCxnSpPr>
        <p:spPr>
          <a:xfrm>
            <a:off x="6096000" y="1729154"/>
            <a:ext cx="0" cy="4630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8F18026-85DC-90DB-8B9A-7BAF0F7E8F97}"/>
              </a:ext>
            </a:extLst>
          </p:cNvPr>
          <p:cNvCxnSpPr/>
          <p:nvPr/>
        </p:nvCxnSpPr>
        <p:spPr>
          <a:xfrm flipH="1">
            <a:off x="4749312" y="2684585"/>
            <a:ext cx="643303" cy="474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1FAA05D-BDCD-FA2F-9A76-6CA802CCB8C3}"/>
              </a:ext>
            </a:extLst>
          </p:cNvPr>
          <p:cNvCxnSpPr>
            <a:cxnSpLocks/>
          </p:cNvCxnSpPr>
          <p:nvPr/>
        </p:nvCxnSpPr>
        <p:spPr>
          <a:xfrm>
            <a:off x="6799387" y="2684585"/>
            <a:ext cx="643303" cy="474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47E52E2-BEC6-C940-CABF-50E839936DA3}"/>
              </a:ext>
            </a:extLst>
          </p:cNvPr>
          <p:cNvCxnSpPr/>
          <p:nvPr/>
        </p:nvCxnSpPr>
        <p:spPr>
          <a:xfrm flipH="1">
            <a:off x="6799387" y="3692395"/>
            <a:ext cx="643303" cy="474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3DED0E8-C833-5160-F818-6E7189776DD9}"/>
              </a:ext>
            </a:extLst>
          </p:cNvPr>
          <p:cNvCxnSpPr>
            <a:cxnSpLocks/>
          </p:cNvCxnSpPr>
          <p:nvPr/>
        </p:nvCxnSpPr>
        <p:spPr>
          <a:xfrm>
            <a:off x="4749311" y="3692395"/>
            <a:ext cx="643303" cy="474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86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C4BE-4DA6-FD7C-8387-71D68BA4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A3D69C7-AB04-B89B-1F8E-C267CFC3A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EF9725D-DCF0-F8D1-0D41-6A9958B8A047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C1C448-2C3D-A3C0-0AAC-40253F52531E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Real-World Data (RWD)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728020-36F1-494E-4A2A-5989A88E7552}"/>
              </a:ext>
            </a:extLst>
          </p:cNvPr>
          <p:cNvSpPr/>
          <p:nvPr/>
        </p:nvSpPr>
        <p:spPr>
          <a:xfrm>
            <a:off x="696000" y="1430555"/>
            <a:ext cx="10800000" cy="10312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RWD is an information from routine clinical practice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21B31D7-E90B-95DA-834F-AFD0C2F519E4}"/>
              </a:ext>
            </a:extLst>
          </p:cNvPr>
          <p:cNvSpPr/>
          <p:nvPr/>
        </p:nvSpPr>
        <p:spPr>
          <a:xfrm>
            <a:off x="696000" y="1430555"/>
            <a:ext cx="10800000" cy="504772"/>
          </a:xfrm>
          <a:custGeom>
            <a:avLst/>
            <a:gdLst>
              <a:gd name="csX0" fmla="*/ 171885 w 10800000"/>
              <a:gd name="csY0" fmla="*/ 0 h 504772"/>
              <a:gd name="csX1" fmla="*/ 10628115 w 10800000"/>
              <a:gd name="csY1" fmla="*/ 0 h 504772"/>
              <a:gd name="csX2" fmla="*/ 10800000 w 10800000"/>
              <a:gd name="csY2" fmla="*/ 171885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171885 h 504772"/>
              <a:gd name="csX6" fmla="*/ 171885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171885" y="0"/>
                </a:moveTo>
                <a:lnTo>
                  <a:pt x="10628115" y="0"/>
                </a:lnTo>
                <a:cubicBezTo>
                  <a:pt x="10723044" y="0"/>
                  <a:pt x="10800000" y="76956"/>
                  <a:pt x="10800000" y="171885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ln>
                  <a:solidFill>
                    <a:schemeClr val="bg2"/>
                  </a:solidFill>
                </a:ln>
              </a:rPr>
              <a:t> What is RWD?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F4B6B-E3F8-F793-8DB8-F20AC97060F5}"/>
              </a:ext>
            </a:extLst>
          </p:cNvPr>
          <p:cNvSpPr txBox="1"/>
          <p:nvPr/>
        </p:nvSpPr>
        <p:spPr>
          <a:xfrm>
            <a:off x="730836" y="2532519"/>
            <a:ext cx="1065780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Collected from real clinical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Includes a broader and more diverse patient population</a:t>
            </a:r>
            <a:endParaRPr lang="ko-KR" altLang="en-US" sz="20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88204D9-75A4-0130-D17B-C7B7A3C4C301}"/>
              </a:ext>
            </a:extLst>
          </p:cNvPr>
          <p:cNvSpPr/>
          <p:nvPr/>
        </p:nvSpPr>
        <p:spPr>
          <a:xfrm>
            <a:off x="696000" y="3617596"/>
            <a:ext cx="10800000" cy="10312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RWD </a:t>
            </a:r>
            <a:r>
              <a:rPr lang="en-US" altLang="ko-KR" dirty="0">
                <a:solidFill>
                  <a:schemeClr val="tx1"/>
                </a:solidFill>
              </a:rPr>
              <a:t>analyzes can be affected by confounding and post-hoc design choices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2A1402B2-EAAC-9F1E-AFDA-CD51B7961CAF}"/>
              </a:ext>
            </a:extLst>
          </p:cNvPr>
          <p:cNvSpPr/>
          <p:nvPr/>
        </p:nvSpPr>
        <p:spPr>
          <a:xfrm>
            <a:off x="696000" y="3617596"/>
            <a:ext cx="10800000" cy="504772"/>
          </a:xfrm>
          <a:custGeom>
            <a:avLst/>
            <a:gdLst>
              <a:gd name="csX0" fmla="*/ 171885 w 10800000"/>
              <a:gd name="csY0" fmla="*/ 0 h 504772"/>
              <a:gd name="csX1" fmla="*/ 10628115 w 10800000"/>
              <a:gd name="csY1" fmla="*/ 0 h 504772"/>
              <a:gd name="csX2" fmla="*/ 10800000 w 10800000"/>
              <a:gd name="csY2" fmla="*/ 171885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171885 h 504772"/>
              <a:gd name="csX6" fmla="*/ 171885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171885" y="0"/>
                </a:moveTo>
                <a:lnTo>
                  <a:pt x="10628115" y="0"/>
                </a:lnTo>
                <a:cubicBezTo>
                  <a:pt x="10723044" y="0"/>
                  <a:pt x="10800000" y="76956"/>
                  <a:pt x="10800000" y="171885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  Limitation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7810B-66ED-C8BA-6092-33B9EBD9D2F9}"/>
              </a:ext>
            </a:extLst>
          </p:cNvPr>
          <p:cNvSpPr txBox="1"/>
          <p:nvPr/>
        </p:nvSpPr>
        <p:spPr>
          <a:xfrm>
            <a:off x="730836" y="4743508"/>
            <a:ext cx="10657800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Treatment is not randomly assigned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Imbalanced covariate distributions can be lead to confounding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Post-hoc analysis may lead to results that favor the researcher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05473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FD96-B1EE-0FC7-CDC8-27EE8F5A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3C3FDA5-6165-06C9-B5B5-58AD67933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4973C17-3795-86AD-6187-39D66F1E67E6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E6C508-6907-1D8C-FB6D-0AC9B3930C47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Example of Protocol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47E3198-8916-B968-C77E-E0BF21BFF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67526"/>
              </p:ext>
            </p:extLst>
          </p:nvPr>
        </p:nvGraphicFramePr>
        <p:xfrm>
          <a:off x="2032000" y="1326752"/>
          <a:ext cx="8128000" cy="474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701188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13859178"/>
                    </a:ext>
                  </a:extLst>
                </a:gridCol>
              </a:tblGrid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What to define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210712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Who?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Heart failure patients</a:t>
                      </a:r>
                      <a:endParaRPr lang="en-US" altLang="ko-KR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826667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Compare what?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Treatment vs Control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15760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Start when?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Discharge date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086181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Follow how long?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 days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638765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Measure what?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Death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253725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Estimate what?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Treatment effect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484404"/>
                  </a:ext>
                </a:extLst>
              </a:tr>
              <a:tr h="5936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Analyze how?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IPTW + Cox regression</a:t>
                      </a:r>
                      <a:endParaRPr lang="ko-KR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836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48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62F3A-3C19-ABE0-1D5D-1170FD08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DD081BC-41DF-DB57-33F9-779D8AF0E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632A6C9-7825-AF57-26F5-A12929EC7102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1E7969-C17A-A215-0446-A0BC8DB408F7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Target Trial Emulation (TTE)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5AC2D3-76ED-AFC5-50AD-949696C5D334}"/>
              </a:ext>
            </a:extLst>
          </p:cNvPr>
          <p:cNvSpPr/>
          <p:nvPr/>
        </p:nvSpPr>
        <p:spPr>
          <a:xfrm>
            <a:off x="732264" y="2109823"/>
            <a:ext cx="10800000" cy="10312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Define the target trial protocol before analysis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3CF1B97B-C0F1-AB9A-9D85-082701BB67A0}"/>
              </a:ext>
            </a:extLst>
          </p:cNvPr>
          <p:cNvSpPr/>
          <p:nvPr/>
        </p:nvSpPr>
        <p:spPr>
          <a:xfrm>
            <a:off x="732264" y="2109823"/>
            <a:ext cx="10800000" cy="504772"/>
          </a:xfrm>
          <a:custGeom>
            <a:avLst/>
            <a:gdLst>
              <a:gd name="csX0" fmla="*/ 171885 w 10800000"/>
              <a:gd name="csY0" fmla="*/ 0 h 504772"/>
              <a:gd name="csX1" fmla="*/ 10628115 w 10800000"/>
              <a:gd name="csY1" fmla="*/ 0 h 504772"/>
              <a:gd name="csX2" fmla="*/ 10800000 w 10800000"/>
              <a:gd name="csY2" fmla="*/ 171885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171885 h 504772"/>
              <a:gd name="csX6" fmla="*/ 171885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171885" y="0"/>
                </a:moveTo>
                <a:lnTo>
                  <a:pt x="10628115" y="0"/>
                </a:lnTo>
                <a:cubicBezTo>
                  <a:pt x="10723044" y="0"/>
                  <a:pt x="10800000" y="76956"/>
                  <a:pt x="10800000" y="171885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ln>
                  <a:solidFill>
                    <a:schemeClr val="bg2"/>
                  </a:solidFill>
                </a:ln>
              </a:rPr>
              <a:t>  TTE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4087C-6F88-29A7-A68C-03581801FA40}"/>
              </a:ext>
            </a:extLst>
          </p:cNvPr>
          <p:cNvSpPr txBox="1"/>
          <p:nvPr/>
        </p:nvSpPr>
        <p:spPr>
          <a:xfrm>
            <a:off x="767100" y="3362944"/>
            <a:ext cx="1065780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Enable fair comparison between groups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Adjust remaining confounding using IPW or matching</a:t>
            </a:r>
            <a:endParaRPr lang="ko-KR" altLang="en-US" sz="20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A421F56-8132-6297-E74B-31BFCD352CF1}"/>
              </a:ext>
            </a:extLst>
          </p:cNvPr>
          <p:cNvGrpSpPr/>
          <p:nvPr/>
        </p:nvGrpSpPr>
        <p:grpSpPr>
          <a:xfrm>
            <a:off x="1550126" y="4910417"/>
            <a:ext cx="9091749" cy="369332"/>
            <a:chOff x="1071154" y="4850674"/>
            <a:chExt cx="9091749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104E8FE-167C-8E02-4B05-1888A2503916}"/>
                </a:ext>
              </a:extLst>
            </p:cNvPr>
            <p:cNvSpPr txBox="1"/>
            <p:nvPr/>
          </p:nvSpPr>
          <p:spPr>
            <a:xfrm>
              <a:off x="1071154" y="4850674"/>
              <a:ext cx="1802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Define protocol</a:t>
              </a:r>
              <a:endParaRPr lang="ko-KR" alt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457D671-1906-70FD-5DFE-2CD4114CCEB8}"/>
                </a:ext>
              </a:extLst>
            </p:cNvPr>
            <p:cNvSpPr txBox="1"/>
            <p:nvPr/>
          </p:nvSpPr>
          <p:spPr>
            <a:xfrm>
              <a:off x="3973287" y="4850674"/>
              <a:ext cx="1950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Real-world data</a:t>
              </a:r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C6A6F7-5F1F-BC4C-A176-2FC3539952B5}"/>
                </a:ext>
              </a:extLst>
            </p:cNvPr>
            <p:cNvSpPr txBox="1"/>
            <p:nvPr/>
          </p:nvSpPr>
          <p:spPr>
            <a:xfrm>
              <a:off x="7023465" y="4850674"/>
              <a:ext cx="31394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Treatment effect estimation</a:t>
              </a:r>
              <a:endParaRPr lang="ko-KR" altLang="en-US" dirty="0"/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6B125A3-34E1-6500-0823-819BAE8683E7}"/>
              </a:ext>
            </a:extLst>
          </p:cNvPr>
          <p:cNvCxnSpPr/>
          <p:nvPr/>
        </p:nvCxnSpPr>
        <p:spPr>
          <a:xfrm>
            <a:off x="3570514" y="5095083"/>
            <a:ext cx="740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F6CBE1E-34D3-9C58-FEE3-049D0E5D1809}"/>
              </a:ext>
            </a:extLst>
          </p:cNvPr>
          <p:cNvCxnSpPr/>
          <p:nvPr/>
        </p:nvCxnSpPr>
        <p:spPr>
          <a:xfrm>
            <a:off x="6579325" y="5095083"/>
            <a:ext cx="740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62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D986-31C6-C7BB-754F-6671BDCD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7FF83B4-D5F7-73EF-8765-957D73EE4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D75A77F-8333-FC40-9EE2-2288F42BAE48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265A59-CB67-66C0-63CC-B1716E34626D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FL-TTE Framework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B0770-58C4-65E4-727D-4BDD84F8F230}"/>
              </a:ext>
            </a:extLst>
          </p:cNvPr>
          <p:cNvSpPr txBox="1"/>
          <p:nvPr/>
        </p:nvSpPr>
        <p:spPr>
          <a:xfrm>
            <a:off x="767100" y="4350022"/>
            <a:ext cx="10657800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All sites follow the federated protocol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Therefore, all sites use the same data structure and statistical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Local model information is sent to the server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The server aggregates updates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Global parameter is sent back to sites</a:t>
            </a:r>
            <a:endParaRPr lang="ko-KR" altLang="en-US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FA3637-8320-4760-7C44-4904F6A8A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083" y="1143279"/>
            <a:ext cx="6601834" cy="31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68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39D84-8862-09FC-8086-3ACAF959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E29F131-7E10-C8F5-6FD3-30F65793F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E6E3FF2-C061-73DA-90AA-3F6B66D12981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2E4A1E-3003-9724-F153-2AEAB1245336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FedProx</a:t>
            </a:r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646017-7124-D158-41C5-146809E20993}"/>
                  </a:ext>
                </a:extLst>
              </p:cNvPr>
              <p:cNvSpPr txBox="1"/>
              <p:nvPr/>
            </p:nvSpPr>
            <p:spPr>
              <a:xfrm>
                <a:off x="648788" y="1534804"/>
                <a:ext cx="10894423" cy="4707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①  Server initializes global parameter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</m:oMath>
                </a14:m>
                <a:endParaRPr lang="en-US" altLang="ko-KR" b="0" dirty="0"/>
              </a:p>
              <a:p>
                <a:r>
                  <a:rPr lang="en-US" altLang="ko-KR" dirty="0"/>
                  <a:t>②  Each site solves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d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ko-K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ko-KR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ko-KR" i="1" dirty="0" err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𝑙𝑜𝑐𝑎𝑙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𝑙𝑖𝑒𝑘𝑙𝑖h𝑜𝑜𝑑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𝑔𝑙𝑜𝑏𝑎𝑙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𝑝𝑎𝑟𝑎𝑚𝑒𝑡𝑒𝑟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𝑝𝑟𝑜𝑥𝑖𝑚𝑎𝑙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h𝑦𝑝𝑒𝑟𝑝𝑎𝑟𝑎𝑚𝑡𝑒𝑟</m:t>
                      </m:r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r>
                  <a:rPr lang="en-US" altLang="ko-KR" dirty="0"/>
                  <a:t>③  Sites send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ko-KR" dirty="0"/>
                  <a:t> to the server</a:t>
                </a:r>
              </a:p>
              <a:p>
                <a:r>
                  <a:rPr lang="en-US" altLang="ko-KR" dirty="0"/>
                  <a:t>④  Server aggregates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dirty="0" err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i="1" dirty="0" err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ko-KR" i="1" dirty="0" err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 dirty="0" err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𝑠𝑖𝑡𝑒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/>
              </a:p>
              <a:p>
                <a:r>
                  <a:rPr lang="en-US" altLang="ko-KR" dirty="0"/>
                  <a:t>Repeat Steps 2-4 until convergence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646017-7124-D158-41C5-146809E20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88" y="1534804"/>
                <a:ext cx="10894423" cy="4707379"/>
              </a:xfrm>
              <a:prstGeom prst="rect">
                <a:avLst/>
              </a:prstGeom>
              <a:blipFill>
                <a:blip r:embed="rId3"/>
                <a:stretch>
                  <a:fillRect l="-4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22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F82CD-FB38-B52A-27A7-C99A3335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39BF3FB-2AE0-6A05-C436-0C57C028C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60B47E6-A3C3-2FA7-7145-DEF4A3457CE1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116EA9-50DC-5401-044B-EB85F35D8EC8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FedECA</a:t>
            </a:r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F2D63D-61EA-1CB9-8155-A91DBAACA5B8}"/>
                  </a:ext>
                </a:extLst>
              </p:cNvPr>
              <p:cNvSpPr txBox="1"/>
              <p:nvPr/>
            </p:nvSpPr>
            <p:spPr>
              <a:xfrm>
                <a:off x="648788" y="1400235"/>
                <a:ext cx="10894423" cy="4994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①  Server initializes global parameter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bSup>
                  </m:oMath>
                </a14:m>
                <a:endParaRPr lang="en-US" altLang="ko-KR" b="0" dirty="0"/>
              </a:p>
              <a:p>
                <a:r>
                  <a:rPr lang="en-US" altLang="ko-KR" dirty="0"/>
                  <a:t>②  At round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, each site computes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𝑠𝑖𝑡𝑒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𝐻𝑒𝑠𝑠𝑖𝑎𝑛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𝑠𝑖𝑡𝑒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</a:p>
              <a:p>
                <a:pPr/>
                <a:endParaRPr lang="en-US" altLang="ko-KR" b="0" dirty="0"/>
              </a:p>
              <a:p>
                <a:pPr/>
                <a:endParaRPr lang="en-US" altLang="ko-KR" dirty="0"/>
              </a:p>
              <a:p>
                <a:r>
                  <a:rPr lang="en-US" altLang="ko-KR" dirty="0"/>
                  <a:t>③  Sites send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to the server</a:t>
                </a:r>
              </a:p>
              <a:p>
                <a:r>
                  <a:rPr lang="en-US" altLang="ko-KR" dirty="0"/>
                  <a:t>④  Server aggregates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/>
              </a:p>
              <a:p>
                <a:pPr marL="342900" indent="-342900">
                  <a:buAutoNum type="circleNumDbPlain" startAt="5"/>
                </a:pPr>
                <a:r>
                  <a:rPr lang="en-US" altLang="ko-KR" dirty="0"/>
                  <a:t>Server updates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  <m:sup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𝐻</m:t>
                      </m:r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pPr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⑥</m:t>
                    </m:r>
                  </m:oMath>
                </a14:m>
                <a:r>
                  <a:rPr lang="en-US" altLang="ko-KR" dirty="0"/>
                  <a:t>  Repeat Steps 2-4 until convergence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F2D63D-61EA-1CB9-8155-A91DBAACA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88" y="1400235"/>
                <a:ext cx="10894423" cy="4994444"/>
              </a:xfrm>
              <a:prstGeom prst="rect">
                <a:avLst/>
              </a:prstGeom>
              <a:blipFill>
                <a:blip r:embed="rId3"/>
                <a:stretch>
                  <a:fillRect l="-5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681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095E-9F64-130C-B980-97722B2E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EDDB88C-AFEA-2232-8068-8B755C3A1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518CFBE-BDEF-11AB-0DBF-5044299F8D38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9AD7691-04B3-645F-21B3-62D30833A80D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Fedprox</a:t>
            </a:r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 and </a:t>
            </a:r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FedECA</a:t>
            </a:r>
            <a:endParaRPr lang="en-US" altLang="ko-KR" sz="2000" b="1" spc="-150" dirty="0">
              <a:solidFill>
                <a:srgbClr val="00626B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99C757-C55F-E104-B53F-57DB65D12D5C}"/>
                  </a:ext>
                </a:extLst>
              </p:cNvPr>
              <p:cNvSpPr txBox="1"/>
              <p:nvPr/>
            </p:nvSpPr>
            <p:spPr>
              <a:xfrm>
                <a:off x="748936" y="1612540"/>
                <a:ext cx="10894423" cy="211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300000"/>
                  </a:lnSpc>
                </a:pPr>
                <a:r>
                  <a:rPr lang="en-US" altLang="ko-KR" b="1" dirty="0" err="1"/>
                  <a:t>Fedprox</a:t>
                </a:r>
                <a:endParaRPr lang="en-US" altLang="ko-KR" b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Requires relatively low communication cost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Prevents local models from drifting too far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Sensitive to the choice of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99C757-C55F-E104-B53F-57DB65D12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36" y="1612540"/>
                <a:ext cx="10894423" cy="2117054"/>
              </a:xfrm>
              <a:prstGeom prst="rect">
                <a:avLst/>
              </a:prstGeom>
              <a:blipFill>
                <a:blip r:embed="rId3"/>
                <a:stretch>
                  <a:fillRect l="-504" b="-3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0A188-810B-0571-E4D1-68DAA92B9387}"/>
                  </a:ext>
                </a:extLst>
              </p:cNvPr>
              <p:cNvSpPr txBox="1"/>
              <p:nvPr/>
            </p:nvSpPr>
            <p:spPr>
              <a:xfrm>
                <a:off x="748936" y="3566160"/>
                <a:ext cx="10894423" cy="2116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300000"/>
                  </a:lnSpc>
                </a:pPr>
                <a:r>
                  <a:rPr lang="en-US" altLang="ko-KR" b="1" dirty="0" err="1"/>
                  <a:t>FedECA</a:t>
                </a:r>
                <a:endParaRPr lang="en-US" altLang="ko-KR" b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Requires high communication cost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Directly approximates pooled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Faster and more stable convergence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0A188-810B-0571-E4D1-68DAA92B9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36" y="3566160"/>
                <a:ext cx="10894423" cy="2116285"/>
              </a:xfrm>
              <a:prstGeom prst="rect">
                <a:avLst/>
              </a:prstGeom>
              <a:blipFill>
                <a:blip r:embed="rId4"/>
                <a:stretch>
                  <a:fillRect l="-504" b="-3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01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DA40-4362-DAA4-AB84-1061E3BEC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F3E6E81-2168-B2E6-86B8-F56F54F67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1FB1D9F-D958-8F97-25FD-34B4C96736A2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989568-B7FB-EC45-F7DF-AA4B60147BF1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Comparison between </a:t>
            </a:r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FedProx</a:t>
            </a:r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 and </a:t>
            </a:r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FedECA</a:t>
            </a:r>
            <a:endParaRPr lang="en-US" altLang="ko-KR" sz="2000" b="1" spc="-150" dirty="0">
              <a:solidFill>
                <a:srgbClr val="00626B"/>
              </a:solidFill>
              <a:latin typeface="+mj-lt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DB54A2-FC3B-FF35-06E2-60AAE684F62C}"/>
              </a:ext>
            </a:extLst>
          </p:cNvPr>
          <p:cNvSpPr/>
          <p:nvPr/>
        </p:nvSpPr>
        <p:spPr>
          <a:xfrm>
            <a:off x="732264" y="1596017"/>
            <a:ext cx="10800000" cy="18177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Which federated method provides more stable treatment effect estimation under the IPTW + Cox regression framework?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BBF946D-8E34-ED22-3814-15CC25036336}"/>
              </a:ext>
            </a:extLst>
          </p:cNvPr>
          <p:cNvSpPr/>
          <p:nvPr/>
        </p:nvSpPr>
        <p:spPr>
          <a:xfrm>
            <a:off x="732264" y="1596017"/>
            <a:ext cx="10800000" cy="504772"/>
          </a:xfrm>
          <a:custGeom>
            <a:avLst/>
            <a:gdLst>
              <a:gd name="csX0" fmla="*/ 171885 w 10800000"/>
              <a:gd name="csY0" fmla="*/ 0 h 504772"/>
              <a:gd name="csX1" fmla="*/ 10628115 w 10800000"/>
              <a:gd name="csY1" fmla="*/ 0 h 504772"/>
              <a:gd name="csX2" fmla="*/ 10800000 w 10800000"/>
              <a:gd name="csY2" fmla="*/ 171885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171885 h 504772"/>
              <a:gd name="csX6" fmla="*/ 171885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171885" y="0"/>
                </a:moveTo>
                <a:lnTo>
                  <a:pt x="10628115" y="0"/>
                </a:lnTo>
                <a:cubicBezTo>
                  <a:pt x="10723044" y="0"/>
                  <a:pt x="10800000" y="76956"/>
                  <a:pt x="10800000" y="171885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ln>
                  <a:solidFill>
                    <a:schemeClr val="bg2"/>
                  </a:solidFill>
                </a:ln>
              </a:rPr>
              <a:t>Comparison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28531-761F-BA16-A160-5FBCC541ACEB}"/>
              </a:ext>
            </a:extLst>
          </p:cNvPr>
          <p:cNvSpPr txBox="1"/>
          <p:nvPr/>
        </p:nvSpPr>
        <p:spPr>
          <a:xfrm>
            <a:off x="767100" y="3685161"/>
            <a:ext cx="10657800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Compare hazard ratio estimates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Compare confidence intervals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Compare convergence stability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Compare communication efficiency</a:t>
            </a:r>
          </a:p>
        </p:txBody>
      </p:sp>
    </p:spTree>
    <p:extLst>
      <p:ext uri="{BB962C8B-B14F-4D97-AF65-F5344CB8AC3E}">
        <p14:creationId xmlns:p14="http://schemas.microsoft.com/office/powerpoint/2010/main" val="154458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2F36-D065-9774-8AB0-FE18A841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D5FD327-0C09-5A17-0E54-260491B47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CA05726-CBDF-8635-A5C9-9D082F2BDDE1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2C73A6-5BB4-6CCA-D539-C90FBC4FF5FA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Simulation and Application Pipeline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6F27B7FC-ED65-F579-8056-8569B56738F6}"/>
                  </a:ext>
                </a:extLst>
              </p:cNvPr>
              <p:cNvSpPr/>
              <p:nvPr/>
            </p:nvSpPr>
            <p:spPr>
              <a:xfrm>
                <a:off x="732264" y="1343471"/>
                <a:ext cx="10800000" cy="181774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>
                  <a:lnSpc>
                    <a:spcPct val="200000"/>
                  </a:lnSpc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Propensity Score Estimation(multivariate) → IPTW</a:t>
                </a:r>
              </a:p>
              <a:p>
                <a:pPr algn="ctr">
                  <a:lnSpc>
                    <a:spcPct val="200000"/>
                  </a:lnSpc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→ Weighted Cox Regression(univariate)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𝐻𝑅</m:t>
                        </m:r>
                      </m:e>
                    </m:acc>
                  </m:oMath>
                </a14:m>
                <a:endParaRPr lang="en-US" altLang="ko-KR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6F27B7FC-ED65-F579-8056-8569B5673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64" y="1343471"/>
                <a:ext cx="10800000" cy="1817743"/>
              </a:xfrm>
              <a:prstGeom prst="roundRect">
                <a:avLst/>
              </a:prstGeom>
              <a:blipFill>
                <a:blip r:embed="rId3"/>
                <a:stretch>
                  <a:fillRect b="-66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6F2EC15-14C8-7AE6-A724-4906A746FC5A}"/>
              </a:ext>
            </a:extLst>
          </p:cNvPr>
          <p:cNvSpPr/>
          <p:nvPr/>
        </p:nvSpPr>
        <p:spPr>
          <a:xfrm>
            <a:off x="732264" y="1343471"/>
            <a:ext cx="10800000" cy="504772"/>
          </a:xfrm>
          <a:custGeom>
            <a:avLst/>
            <a:gdLst>
              <a:gd name="csX0" fmla="*/ 171885 w 10800000"/>
              <a:gd name="csY0" fmla="*/ 0 h 504772"/>
              <a:gd name="csX1" fmla="*/ 10628115 w 10800000"/>
              <a:gd name="csY1" fmla="*/ 0 h 504772"/>
              <a:gd name="csX2" fmla="*/ 10800000 w 10800000"/>
              <a:gd name="csY2" fmla="*/ 171885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171885 h 504772"/>
              <a:gd name="csX6" fmla="*/ 171885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171885" y="0"/>
                </a:moveTo>
                <a:lnTo>
                  <a:pt x="10628115" y="0"/>
                </a:lnTo>
                <a:cubicBezTo>
                  <a:pt x="10723044" y="0"/>
                  <a:pt x="10800000" y="76956"/>
                  <a:pt x="10800000" y="171885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ln>
                  <a:solidFill>
                    <a:schemeClr val="bg2"/>
                  </a:solidFill>
                </a:ln>
              </a:rPr>
              <a:t>Overall Procedure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A66BD-1AA9-ED75-EED6-A29CED499DEE}"/>
              </a:ext>
            </a:extLst>
          </p:cNvPr>
          <p:cNvSpPr txBox="1"/>
          <p:nvPr/>
        </p:nvSpPr>
        <p:spPr>
          <a:xfrm>
            <a:off x="767100" y="3432615"/>
            <a:ext cx="10657800" cy="3033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/>
              <a:t>FedProx</a:t>
            </a:r>
            <a:r>
              <a:rPr lang="en-US" altLang="ko-KR" sz="2000" dirty="0"/>
              <a:t> and </a:t>
            </a:r>
            <a:r>
              <a:rPr lang="en-US" altLang="ko-KR" sz="2000" dirty="0" err="1"/>
              <a:t>FedECA</a:t>
            </a:r>
            <a:r>
              <a:rPr lang="en-US" altLang="ko-KR" sz="2000" dirty="0"/>
              <a:t> are used to estimate the propensity score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The estimated propensity score is used to compute IPTW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The final treatment effect is estimated using weighted Cox regression using </a:t>
            </a:r>
            <a:r>
              <a:rPr lang="en-US" altLang="ko-KR" sz="2000" dirty="0" err="1"/>
              <a:t>FedProx</a:t>
            </a:r>
            <a:r>
              <a:rPr lang="en-US" altLang="ko-KR" sz="2000" dirty="0"/>
              <a:t> and </a:t>
            </a:r>
            <a:r>
              <a:rPr lang="en-US" altLang="ko-KR" sz="2000" dirty="0" err="1"/>
              <a:t>FedECA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Communication rounds are evaluated only for the federated logistic regression step</a:t>
            </a:r>
          </a:p>
          <a:p>
            <a:pPr algn="ctr">
              <a:lnSpc>
                <a:spcPct val="250000"/>
              </a:lnSpc>
            </a:pPr>
            <a:r>
              <a:rPr lang="en-US" altLang="ko-KR" sz="2000" b="1" dirty="0"/>
              <a:t>Key point</a:t>
            </a:r>
            <a:r>
              <a:rPr lang="en-US" altLang="ko-KR" sz="2000" dirty="0"/>
              <a:t>: differences in PS estimation can affect the final hazard ratio</a:t>
            </a:r>
          </a:p>
        </p:txBody>
      </p:sp>
    </p:spTree>
    <p:extLst>
      <p:ext uri="{BB962C8B-B14F-4D97-AF65-F5344CB8AC3E}">
        <p14:creationId xmlns:p14="http://schemas.microsoft.com/office/powerpoint/2010/main" val="2320328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8B14-49F0-C5F7-6E67-08ADEBB9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AB26DAE-C2DF-C0DF-3F8D-597F47464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E799A9C-5508-9AFA-02C5-2F8C697A2713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6B42CB-7298-DBD1-B290-9D4E577ADDBA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Simulation and Application Pipeline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2C0AA3C2-D49B-B8A2-2C59-AAAA51005B3A}"/>
                  </a:ext>
                </a:extLst>
              </p:cNvPr>
              <p:cNvSpPr/>
              <p:nvPr/>
            </p:nvSpPr>
            <p:spPr>
              <a:xfrm>
                <a:off x="732264" y="1343471"/>
                <a:ext cx="10800000" cy="224673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ko-KR" sz="2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0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2000" i="1" dirty="0" err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dirty="0" err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sz="2000" i="1" dirty="0" err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ko-KR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ko-KR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altLang="ko-KR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ko-KR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ko-KR" sz="20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2000" i="1" dirty="0" err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000" i="1" dirty="0" err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000" i="1" dirty="0" err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20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20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20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0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000" i="1" dirty="0" err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𝑙𝑗</m:t>
                                              </m:r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 i="0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exp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altLang="ko-KR" sz="20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ko-KR" sz="20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0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ko-KR" sz="20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𝐴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ko-KR" sz="2000" i="1" dirty="0" err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</m:e>
                                      </m:nary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ko-KR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ES" altLang="ko-KR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e>
                      </m:d>
                      <m: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𝑙𝑗</m:t>
                          </m:r>
                        </m:sub>
                      </m:sSub>
                      <m: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E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</m:sSub>
                      <m:r>
                        <m:rPr>
                          <m:lit/>
                        </m:rP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s-E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2C0AA3C2-D49B-B8A2-2C59-AAAA51005B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64" y="1343471"/>
                <a:ext cx="10800000" cy="224673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07AFEE02-37E2-51F1-88C0-A9791C3344C6}"/>
              </a:ext>
            </a:extLst>
          </p:cNvPr>
          <p:cNvSpPr/>
          <p:nvPr/>
        </p:nvSpPr>
        <p:spPr>
          <a:xfrm>
            <a:off x="732264" y="1343471"/>
            <a:ext cx="10800000" cy="504772"/>
          </a:xfrm>
          <a:custGeom>
            <a:avLst/>
            <a:gdLst>
              <a:gd name="csX0" fmla="*/ 171885 w 10800000"/>
              <a:gd name="csY0" fmla="*/ 0 h 504772"/>
              <a:gd name="csX1" fmla="*/ 10628115 w 10800000"/>
              <a:gd name="csY1" fmla="*/ 0 h 504772"/>
              <a:gd name="csX2" fmla="*/ 10800000 w 10800000"/>
              <a:gd name="csY2" fmla="*/ 171885 h 504772"/>
              <a:gd name="csX3" fmla="*/ 10800000 w 10800000"/>
              <a:gd name="csY3" fmla="*/ 504772 h 504772"/>
              <a:gd name="csX4" fmla="*/ 0 w 10800000"/>
              <a:gd name="csY4" fmla="*/ 504772 h 504772"/>
              <a:gd name="csX5" fmla="*/ 0 w 10800000"/>
              <a:gd name="csY5" fmla="*/ 171885 h 504772"/>
              <a:gd name="csX6" fmla="*/ 171885 w 10800000"/>
              <a:gd name="csY6" fmla="*/ 0 h 504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800000" h="504772">
                <a:moveTo>
                  <a:pt x="171885" y="0"/>
                </a:moveTo>
                <a:lnTo>
                  <a:pt x="10628115" y="0"/>
                </a:lnTo>
                <a:cubicBezTo>
                  <a:pt x="10723044" y="0"/>
                  <a:pt x="10800000" y="76956"/>
                  <a:pt x="10800000" y="171885"/>
                </a:cubicBezTo>
                <a:lnTo>
                  <a:pt x="10800000" y="504772"/>
                </a:lnTo>
                <a:lnTo>
                  <a:pt x="0" y="504772"/>
                </a:ln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  <a:solidFill>
            <a:srgbClr val="0062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2000" dirty="0">
                <a:ln>
                  <a:solidFill>
                    <a:schemeClr val="bg2"/>
                  </a:solidFill>
                </a:ln>
              </a:rPr>
              <a:t>Weighted partial log-likelihood of Cox regression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0E69AF-DF45-CE68-2AE3-C394F899A803}"/>
                  </a:ext>
                </a:extLst>
              </p:cNvPr>
              <p:cNvSpPr txBox="1"/>
              <p:nvPr/>
            </p:nvSpPr>
            <p:spPr>
              <a:xfrm>
                <a:off x="766354" y="3597860"/>
                <a:ext cx="10657800" cy="2864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i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</m:sSub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altLang="ko-KR" sz="2000" dirty="0"/>
                  <a:t>: observed follow-up time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/>
                  <a:t>: event indicator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en-US" altLang="ko-KR" sz="2000" dirty="0"/>
                  <a:t>: treatment indicator,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en-US" altLang="ko-KR" sz="2000" dirty="0"/>
                  <a:t>: IPTW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/>
                  <a:t>The final hazard ratio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𝐻𝑅</m:t>
                        </m:r>
                      </m:e>
                    </m:acc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i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endParaRPr lang="en-US" altLang="ko-KR" sz="20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/>
                  <a:t>This framework avoids sharing individual-level data, but requires aggregated risk-set information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0E69AF-DF45-CE68-2AE3-C394F899A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54" y="3597860"/>
                <a:ext cx="10657800" cy="2864887"/>
              </a:xfrm>
              <a:prstGeom prst="rect">
                <a:avLst/>
              </a:prstGeom>
              <a:blipFill>
                <a:blip r:embed="rId4"/>
                <a:stretch>
                  <a:fillRect l="-515" b="-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301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9B9D2-49EB-8D88-780B-12197232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A6127F3-7811-4C3E-D7B8-5AE2EF380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5B42BFA-E833-4F05-2A26-D55AF9A2779A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FCDBB6-D372-6574-B649-B4A05F287A5A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Simulation Setting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18C3FE-0A12-B170-1046-D5B32D70555E}"/>
              </a:ext>
            </a:extLst>
          </p:cNvPr>
          <p:cNvSpPr txBox="1"/>
          <p:nvPr/>
        </p:nvSpPr>
        <p:spPr>
          <a:xfrm>
            <a:off x="748932" y="1400086"/>
            <a:ext cx="1089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Simulation is used to evaluate method behavior under controlled multi-site heterogeneity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69F0E-2FA0-B675-F523-AAA985A71F41}"/>
              </a:ext>
            </a:extLst>
          </p:cNvPr>
          <p:cNvSpPr txBox="1"/>
          <p:nvPr/>
        </p:nvSpPr>
        <p:spPr>
          <a:xfrm>
            <a:off x="748932" y="2267078"/>
            <a:ext cx="1089442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Data Structure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10 Sites and 5,000 patients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Site-level heterogeneity in age, sex distribution and treatment preference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ECD61-BF7C-58FE-BA84-F81977A92A38}"/>
              </a:ext>
            </a:extLst>
          </p:cNvPr>
          <p:cNvSpPr txBox="1"/>
          <p:nvPr/>
        </p:nvSpPr>
        <p:spPr>
          <a:xfrm>
            <a:off x="748933" y="4050027"/>
            <a:ext cx="10894423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Covariates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100 treatment-related covariates and 100 treatment-unrelated covariates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To mimic Heart Failure patients, STRONG-HF like clinical covariates were included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Example : cardio metabolic, renal, hemodynamic stress and age</a:t>
            </a:r>
          </a:p>
        </p:txBody>
      </p:sp>
    </p:spTree>
    <p:extLst>
      <p:ext uri="{BB962C8B-B14F-4D97-AF65-F5344CB8AC3E}">
        <p14:creationId xmlns:p14="http://schemas.microsoft.com/office/powerpoint/2010/main" val="2637249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A11F-44D7-20AA-FF2A-02D7A101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2E0EF21-39E8-5686-B96D-5C590ABAA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DEF4679-B939-54E9-B6B7-467ACB0BDE05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F88CD4-EFA0-9E4F-46E2-A99A87AF191B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Simulation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3B7E8C9-F0DE-928E-9545-009D5B3862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912336"/>
                  </p:ext>
                </p:extLst>
              </p:nvPr>
            </p:nvGraphicFramePr>
            <p:xfrm>
              <a:off x="1272903" y="3664131"/>
              <a:ext cx="9646195" cy="26582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9239">
                      <a:extLst>
                        <a:ext uri="{9D8B030D-6E8A-4147-A177-3AD203B41FA5}">
                          <a16:colId xmlns:a16="http://schemas.microsoft.com/office/drawing/2014/main" val="3060217860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289914969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1927125614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489688176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470974270"/>
                        </a:ext>
                      </a:extLst>
                    </a:gridCol>
                  </a:tblGrid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Converegence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Cost per 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95% CI for HR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0051218"/>
                      </a:ext>
                    </a:extLst>
                  </a:tr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FedProx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72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(0.7070, 0.8206)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71054321"/>
                      </a:ext>
                    </a:extLst>
                  </a:tr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FedECA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5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US" altLang="ko-KR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(0.7046, 0.8149)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9857386"/>
                      </a:ext>
                    </a:extLst>
                  </a:tr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Pooled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(0.7046, 0.8149)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79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3B7E8C9-F0DE-928E-9545-009D5B3862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912336"/>
                  </p:ext>
                </p:extLst>
              </p:nvPr>
            </p:nvGraphicFramePr>
            <p:xfrm>
              <a:off x="1272903" y="3664131"/>
              <a:ext cx="9646195" cy="26582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9239">
                      <a:extLst>
                        <a:ext uri="{9D8B030D-6E8A-4147-A177-3AD203B41FA5}">
                          <a16:colId xmlns:a16="http://schemas.microsoft.com/office/drawing/2014/main" val="3060217860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289914969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1927125614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489688176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470974270"/>
                        </a:ext>
                      </a:extLst>
                    </a:gridCol>
                  </a:tblGrid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15" t="-917" r="-300315" b="-302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Converegence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Cost per 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95% CI for HR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0051218"/>
                      </a:ext>
                    </a:extLst>
                  </a:tr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FedProx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315" t="-100000" r="-30031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72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00000" t="-100000" r="-1006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(0.7070, 0.8206)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71054321"/>
                      </a:ext>
                    </a:extLst>
                  </a:tr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FedECA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5" t="-201835" r="-300315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5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201835" r="-100631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(0.7046, 0.8149)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9857386"/>
                      </a:ext>
                    </a:extLst>
                  </a:tr>
                  <a:tr h="66457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Pooled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(0.7046, 0.8149)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793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6F5A18FE-0920-9820-8C88-F1FDCE6E54CB}"/>
              </a:ext>
            </a:extLst>
          </p:cNvPr>
          <p:cNvGrpSpPr/>
          <p:nvPr/>
        </p:nvGrpSpPr>
        <p:grpSpPr>
          <a:xfrm>
            <a:off x="1837630" y="974541"/>
            <a:ext cx="8516740" cy="2619252"/>
            <a:chOff x="1437036" y="974541"/>
            <a:chExt cx="8516740" cy="261925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9EE31A9-6A29-4C9F-D0BB-49EAC6366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7036" y="974542"/>
              <a:ext cx="3857776" cy="2619251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EB9E861-0AA5-A193-CE88-78F77B133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974541"/>
              <a:ext cx="3857776" cy="2619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6091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8E35-91E0-269B-061F-CDA9C5AA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3A3D0B7-3845-4FA8-3867-6733DBB0D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FC13282-F5FE-B572-D1B5-1A70A425FD8C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5113E0-EF31-00A8-4431-B910E453202C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Data Application: </a:t>
            </a:r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eICU</a:t>
            </a:r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 and MIMIC-IV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9E2CA-3AFB-8CBB-987B-5E3E9CADC486}"/>
              </a:ext>
            </a:extLst>
          </p:cNvPr>
          <p:cNvSpPr txBox="1"/>
          <p:nvPr/>
        </p:nvSpPr>
        <p:spPr>
          <a:xfrm>
            <a:off x="748933" y="1657553"/>
            <a:ext cx="10894423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Datasets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eICU</a:t>
            </a:r>
            <a:r>
              <a:rPr lang="en-US" altLang="ko-KR" dirty="0"/>
              <a:t> Collaborative Research Database (191 Sites)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MIMIC-IV Database (1 Site)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ICU patients with Sepsis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EF69D-63C6-B2E1-DE00-F7979180155B}"/>
              </a:ext>
            </a:extLst>
          </p:cNvPr>
          <p:cNvSpPr txBox="1"/>
          <p:nvPr/>
        </p:nvSpPr>
        <p:spPr>
          <a:xfrm>
            <a:off x="748933" y="4050027"/>
            <a:ext cx="10894423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Treatment and Covariates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Treatment: Corticosteroid treatment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39 Covariates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Primary outcome: 28-day mortality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Covariates: age, male, race, sepsis prior, creatinine and </a:t>
            </a:r>
            <a:r>
              <a:rPr lang="en-US" altLang="ko-KR" dirty="0" err="1"/>
              <a:t>etc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0686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EFC7-DC43-8312-E01D-824234DE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5EE12F8-E94E-34C0-701A-AB955C67D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0EC0585-3BBE-C478-5EE3-3F568451CE36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349C65-B4E2-8537-99D3-300FD2CF86B8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Data Application: </a:t>
            </a:r>
            <a:r>
              <a:rPr lang="en-US" altLang="ko-KR" sz="2000" b="1" spc="-150" dirty="0" err="1">
                <a:solidFill>
                  <a:srgbClr val="00626B"/>
                </a:solidFill>
                <a:latin typeface="+mj-lt"/>
              </a:rPr>
              <a:t>eICU</a:t>
            </a:r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 and MIMIC-IV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C759004-DF7E-0723-3522-09EC33435E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7258447"/>
                  </p:ext>
                </p:extLst>
              </p:nvPr>
            </p:nvGraphicFramePr>
            <p:xfrm>
              <a:off x="1272903" y="3664131"/>
              <a:ext cx="9646195" cy="26582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9239">
                      <a:extLst>
                        <a:ext uri="{9D8B030D-6E8A-4147-A177-3AD203B41FA5}">
                          <a16:colId xmlns:a16="http://schemas.microsoft.com/office/drawing/2014/main" val="3060217860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289914969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1927125614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489688176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470974270"/>
                        </a:ext>
                      </a:extLst>
                    </a:gridCol>
                  </a:tblGrid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Converegence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Cost per 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95% CI for HR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0051218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FedProx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2×</m:t>
                                </m:r>
                                <m:sSup>
                                  <m:sSup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218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(0.8568, 1.4196)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71054321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FedProx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3801024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FedECA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5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ko-K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US" altLang="ko-KR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(0.9998, 1.2158)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9857386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Pooled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(0.9998, 1.2158)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79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C759004-DF7E-0723-3522-09EC33435E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7258447"/>
                  </p:ext>
                </p:extLst>
              </p:nvPr>
            </p:nvGraphicFramePr>
            <p:xfrm>
              <a:off x="1272903" y="3664131"/>
              <a:ext cx="9646195" cy="26582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9239">
                      <a:extLst>
                        <a:ext uri="{9D8B030D-6E8A-4147-A177-3AD203B41FA5}">
                          <a16:colId xmlns:a16="http://schemas.microsoft.com/office/drawing/2014/main" val="3060217860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289914969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1927125614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489688176"/>
                        </a:ext>
                      </a:extLst>
                    </a:gridCol>
                    <a:gridCol w="1929239">
                      <a:extLst>
                        <a:ext uri="{9D8B030D-6E8A-4147-A177-3AD203B41FA5}">
                          <a16:colId xmlns:a16="http://schemas.microsoft.com/office/drawing/2014/main" val="2470974270"/>
                        </a:ext>
                      </a:extLst>
                    </a:gridCol>
                  </a:tblGrid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15" t="-1149" r="-300315" b="-404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Converegence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Cost per round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95% CI for HR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0051218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FedProx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315" t="-100000" r="-30031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218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00000" t="-100000" r="-1006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(0.8568, 1.4196)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71054321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FedProx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5" t="-202299" r="-300315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202299" r="-100631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3801024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>
                              <a:solidFill>
                                <a:schemeClr val="tx1"/>
                              </a:solidFill>
                            </a:rPr>
                            <a:t>FedECA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15" t="-298864" r="-300315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Round 5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298864" r="-100631" b="-1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(0.9998, 1.2158)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9857386"/>
                      </a:ext>
                    </a:extLst>
                  </a:tr>
                  <a:tr h="53165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Pooled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(0.9998, 1.2158)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017793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7EEBF41B-9CA1-7107-DEB0-173AC00AD753}"/>
              </a:ext>
            </a:extLst>
          </p:cNvPr>
          <p:cNvGrpSpPr/>
          <p:nvPr/>
        </p:nvGrpSpPr>
        <p:grpSpPr>
          <a:xfrm>
            <a:off x="1837630" y="968295"/>
            <a:ext cx="8516741" cy="2625495"/>
            <a:chOff x="1837630" y="968295"/>
            <a:chExt cx="8516741" cy="2625495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5E3482D6-90D9-DDD1-6B9A-559933F75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7630" y="968295"/>
              <a:ext cx="3857776" cy="2619249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F7BF5BC-9723-9FB3-5DB4-81B80C39F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96594" y="974541"/>
              <a:ext cx="3857777" cy="2619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2904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55F1-A57B-D8A9-E476-43E7D84D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734378F-88F5-32AD-9DC9-2524FD964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8E4ACDA-FD78-3B64-A51C-F14965103595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2082E0-47F4-BB73-D897-E379705EA04F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Ratio of success balancing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0E0AD-7253-3156-DA96-1DD60927B332}"/>
              </a:ext>
            </a:extLst>
          </p:cNvPr>
          <p:cNvSpPr txBox="1"/>
          <p:nvPr/>
        </p:nvSpPr>
        <p:spPr>
          <a:xfrm>
            <a:off x="648787" y="4278394"/>
            <a:ext cx="10894423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Treatment and Covariates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Balance success ratio: proportion of covariates with |SMD| &lt; 0.1 between treatment and control groups.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FedECA</a:t>
            </a:r>
            <a:r>
              <a:rPr lang="en-US" altLang="ko-KR" dirty="0"/>
              <a:t> achieved nearly the same balancing performance as the Pooled.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FedProx</a:t>
            </a:r>
            <a:r>
              <a:rPr lang="en-US" altLang="ko-KR" dirty="0"/>
              <a:t> showed improvement, but remained less stable than </a:t>
            </a:r>
            <a:r>
              <a:rPr lang="en-US" altLang="ko-KR" dirty="0" err="1"/>
              <a:t>FedECA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789053-33D7-85B9-6C3E-BFF830723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28" y="1073357"/>
            <a:ext cx="4636739" cy="336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78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7ADD-6F6F-4914-8082-FCF24FA1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BF116AD-64C4-35C6-22F9-19E046D84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E663B9D-9DAA-D820-8255-A20A88327C3B}"/>
              </a:ext>
            </a:extLst>
          </p:cNvPr>
          <p:cNvCxnSpPr>
            <a:cxnSpLocks/>
          </p:cNvCxnSpPr>
          <p:nvPr/>
        </p:nvCxnSpPr>
        <p:spPr>
          <a:xfrm>
            <a:off x="377505" y="918986"/>
            <a:ext cx="11437267" cy="0"/>
          </a:xfrm>
          <a:prstGeom prst="line">
            <a:avLst/>
          </a:prstGeom>
          <a:ln w="9525">
            <a:solidFill>
              <a:srgbClr val="006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2CBDAA-67F2-2BCA-A184-42A5B7914359}"/>
              </a:ext>
            </a:extLst>
          </p:cNvPr>
          <p:cNvSpPr txBox="1"/>
          <p:nvPr/>
        </p:nvSpPr>
        <p:spPr>
          <a:xfrm>
            <a:off x="377505" y="463321"/>
            <a:ext cx="1143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pc="-150" dirty="0">
                <a:solidFill>
                  <a:srgbClr val="00626B"/>
                </a:solidFill>
                <a:latin typeface="+mj-lt"/>
              </a:rPr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0BF4BE-971D-821E-F264-B8E9182F3A31}"/>
                  </a:ext>
                </a:extLst>
              </p:cNvPr>
              <p:cNvSpPr txBox="1"/>
              <p:nvPr/>
            </p:nvSpPr>
            <p:spPr>
              <a:xfrm>
                <a:off x="648788" y="1400235"/>
                <a:ext cx="10894423" cy="4436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In FL-TTE, different optimization methods may lead to different treatment effect estimates.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To examine this issue, this study compared </a:t>
                </a:r>
                <a:r>
                  <a:rPr lang="en-US" altLang="ko-KR" dirty="0" err="1"/>
                  <a:t>FedProx</a:t>
                </a:r>
                <a:r>
                  <a:rPr lang="en-US" altLang="ko-KR" dirty="0"/>
                  <a:t> and </a:t>
                </a:r>
                <a:r>
                  <a:rPr lang="en-US" altLang="ko-KR" dirty="0" err="1"/>
                  <a:t>FedECA</a:t>
                </a:r>
                <a:r>
                  <a:rPr lang="en-US" altLang="ko-KR" dirty="0"/>
                  <a:t> using the same IPTW-Cox </a:t>
                </a:r>
                <a:r>
                  <a:rPr lang="en-US" altLang="ko-KR" dirty="0" err="1"/>
                  <a:t>freamework</a:t>
                </a:r>
                <a:r>
                  <a:rPr lang="en-US" altLang="ko-KR" dirty="0"/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Both methods avoid directly pooling patient-level data by sharing model-level or aggregated information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FedProx</a:t>
                </a:r>
                <a:r>
                  <a:rPr lang="en-US" altLang="ko-KR" dirty="0"/>
                  <a:t> was sensitive to the proximal hyperparameter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dirty="0"/>
                  <a:t> and sample size of each site.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FedECA</a:t>
                </a:r>
                <a:r>
                  <a:rPr lang="en-US" altLang="ko-KR" dirty="0"/>
                  <a:t> has a trade-off: it converges faster, but requires larger communication cost due to Hessian transmission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0BF4BE-971D-821E-F264-B8E9182F3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88" y="1400235"/>
                <a:ext cx="10894423" cy="4436151"/>
              </a:xfrm>
              <a:prstGeom prst="rect">
                <a:avLst/>
              </a:prstGeom>
              <a:blipFill>
                <a:blip r:embed="rId3"/>
                <a:stretch>
                  <a:fillRect l="-336" r="-280" b="-13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36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2665</TotalTime>
  <Words>1013</Words>
  <Application>Microsoft Office PowerPoint</Application>
  <PresentationFormat>와이드스크린</PresentationFormat>
  <Paragraphs>204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동근 이</cp:lastModifiedBy>
  <cp:revision>30</cp:revision>
  <dcterms:created xsi:type="dcterms:W3CDTF">2025-04-14T05:40:19Z</dcterms:created>
  <dcterms:modified xsi:type="dcterms:W3CDTF">2026-06-02T06:29:58Z</dcterms:modified>
</cp:coreProperties>
</file>